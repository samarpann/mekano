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C4622D">
              <a:alpha val="10000"/>
            </a:srgbClr>
          </a:solidFill>
          <a:ln w="12700">
            <a:solidFill>
              <a:srgbClr val="C4622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0F766E">
              <a:alpha val="8000"/>
            </a:srgbClr>
          </a:solidFill>
          <a:ln w="12700">
            <a:solidFill>
              <a:srgbClr val="0F766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20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463040" y="1005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BRAND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508760"/>
            <a:ext cx="6858000" cy="36576"/>
          </a:xfrm>
          <a:prstGeom prst="rect">
            <a:avLst/>
          </a:prstGeom>
          <a:solidFill>
            <a:srgbClr val="C4622D">
              <a:alpha val="60000"/>
            </a:srgbClr>
          </a:solidFill>
          <a:ln w="12700">
            <a:solidFill>
              <a:srgbClr val="C4622D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642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Analytics &amp; Admin Dashboard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5760" y="22311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that matters — Sales  •  Marketing  •  Customers  •  Operations  •  Inventory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Dashboard Sections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283464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Key Metrics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283464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Theme System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Odoo Enterprise  |  React.js Frontend  |  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C4622D">
              <a:alpha val="50000"/>
            </a:srgbClr>
          </a:solidFill>
          <a:ln w="12700">
            <a:solidFill>
              <a:srgbClr val="C4622D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371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Discussion Purposes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Complete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sections covering every aspect of PACC's business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1572768" cy="41148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52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1521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572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107899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078992"/>
            <a:ext cx="1572768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4832" y="1152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1521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03120" y="1572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749040" y="107899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49040" y="1078992"/>
            <a:ext cx="157276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22192" y="1152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1521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40480" y="1572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Performance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0" y="107899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0" y="1078992"/>
            <a:ext cx="1572768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559552" y="1152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1521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1572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Products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23760" y="107899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223760" y="1078992"/>
            <a:ext cx="1572768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96912" y="1152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15214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15200" y="1572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Delivery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74320" y="2340864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74320" y="2340864"/>
            <a:ext cx="1572768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747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608" y="241401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657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Finance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2011680" y="2340864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011680" y="2340864"/>
            <a:ext cx="1572768" cy="411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08483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968" y="2414016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1031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749040" y="2340864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749040" y="2340864"/>
            <a:ext cx="157276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82219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2414016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84048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5486400" y="2340864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5486400" y="2340864"/>
            <a:ext cx="157276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555955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2414016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57784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7223760" y="2340864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7223760" y="2340864"/>
            <a:ext cx="1572768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729691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5048" y="2414016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31520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Channels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274320" y="36027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274320" y="3602736"/>
            <a:ext cx="1572768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347472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608" y="3675888"/>
            <a:ext cx="274320" cy="27432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36576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Insights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2011680" y="36027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2011680" y="3602736"/>
            <a:ext cx="1572768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2084832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2968" y="3675888"/>
            <a:ext cx="274320" cy="27432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210312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Analytics</a:t>
            </a:r>
            <a:endParaRPr lang="en-US" sz="1000" dirty="0"/>
          </a:p>
        </p:txBody>
      </p:sp>
      <p:sp>
        <p:nvSpPr>
          <p:cNvPr id="66" name="Shape 52"/>
          <p:cNvSpPr/>
          <p:nvPr/>
        </p:nvSpPr>
        <p:spPr>
          <a:xfrm>
            <a:off x="3749040" y="36027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7" name="Shape 53"/>
          <p:cNvSpPr/>
          <p:nvPr/>
        </p:nvSpPr>
        <p:spPr>
          <a:xfrm>
            <a:off x="3749040" y="3602736"/>
            <a:ext cx="1572768" cy="41148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3822192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0328" y="3675888"/>
            <a:ext cx="274320" cy="274320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384048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Coupons</a:t>
            </a:r>
            <a:endParaRPr lang="en-US" sz="1000" dirty="0"/>
          </a:p>
        </p:txBody>
      </p:sp>
      <p:sp>
        <p:nvSpPr>
          <p:cNvPr id="71" name="Shape 56"/>
          <p:cNvSpPr/>
          <p:nvPr/>
        </p:nvSpPr>
        <p:spPr>
          <a:xfrm>
            <a:off x="5486400" y="36027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2" name="Shape 57"/>
          <p:cNvSpPr/>
          <p:nvPr/>
        </p:nvSpPr>
        <p:spPr>
          <a:xfrm>
            <a:off x="5486400" y="3602736"/>
            <a:ext cx="1572768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58"/>
          <p:cNvSpPr/>
          <p:nvPr/>
        </p:nvSpPr>
        <p:spPr>
          <a:xfrm>
            <a:off x="5559552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7688" y="3675888"/>
            <a:ext cx="274320" cy="274320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557784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Seasonal</a:t>
            </a:r>
            <a:endParaRPr lang="en-US" sz="1000" dirty="0"/>
          </a:p>
        </p:txBody>
      </p:sp>
      <p:sp>
        <p:nvSpPr>
          <p:cNvPr id="76" name="Shape 60"/>
          <p:cNvSpPr/>
          <p:nvPr/>
        </p:nvSpPr>
        <p:spPr>
          <a:xfrm>
            <a:off x="7223760" y="36027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7" name="Shape 61"/>
          <p:cNvSpPr/>
          <p:nvPr/>
        </p:nvSpPr>
        <p:spPr>
          <a:xfrm>
            <a:off x="7223760" y="3602736"/>
            <a:ext cx="157276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62"/>
          <p:cNvSpPr/>
          <p:nvPr/>
        </p:nvSpPr>
        <p:spPr>
          <a:xfrm>
            <a:off x="7296912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048" y="3675888"/>
            <a:ext cx="274320" cy="274320"/>
          </a:xfrm>
          <a:prstGeom prst="rect">
            <a:avLst/>
          </a:prstGeom>
        </p:spPr>
      </p:pic>
      <p:sp>
        <p:nvSpPr>
          <p:cNvPr id="80" name="Text 63"/>
          <p:cNvSpPr/>
          <p:nvPr/>
        </p:nvSpPr>
        <p:spPr>
          <a:xfrm>
            <a:off x="731520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Actions</a:t>
            </a:r>
            <a:endParaRPr lang="en-US" sz="1000" dirty="0"/>
          </a:p>
        </p:txBody>
      </p:sp>
      <p:sp>
        <p:nvSpPr>
          <p:cNvPr id="81" name="Shape 6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2" name="Text 65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83" name="Text 66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Sales Overview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snapshot of entire PACC business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1965960" cy="54864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₹4,82,500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(MTD)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+18% vs last month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95728" y="107899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95728" y="1078992"/>
            <a:ext cx="196596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2618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3288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3,240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532888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(MTD)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32888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+24% vs last month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17136" y="107899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17136" y="1078992"/>
            <a:ext cx="196596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26187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4296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654296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654296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+12% vs last month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638544" y="1078992"/>
            <a:ext cx="2240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38544" y="1078992"/>
            <a:ext cx="22402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26187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75704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₹148.9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775704" y="20848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775704" y="23408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-3% vs last month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74320" y="2788920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2788920"/>
            <a:ext cx="91440" cy="1901952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Sales Metrics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274320" y="3246120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11480" y="3264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(Gross Merchandise Value)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3200400" y="3264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₹5,24,800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74320" y="350215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1148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(after returns)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3200400" y="3520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₹4,82,500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274320" y="375818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11480" y="3776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3200400" y="3776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274320" y="401421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11480" y="4032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3200400" y="4032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274320" y="427024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11480" y="42885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(website)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3200400" y="42885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4663440" y="2788920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663440" y="2788920"/>
            <a:ext cx="91440" cy="1901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89204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Channel</a:t>
            </a:r>
            <a:endParaRPr lang="en-US" sz="1300" dirty="0"/>
          </a:p>
        </p:txBody>
      </p:sp>
      <p:sp>
        <p:nvSpPr>
          <p:cNvPr id="51" name="Shape 45"/>
          <p:cNvSpPr/>
          <p:nvPr/>
        </p:nvSpPr>
        <p:spPr>
          <a:xfrm>
            <a:off x="4663440" y="3246120"/>
            <a:ext cx="4251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663440" y="3264408"/>
            <a:ext cx="73152" cy="2011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480060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Website (D2C)</a:t>
            </a:r>
            <a:endParaRPr lang="en-US" sz="950" dirty="0"/>
          </a:p>
        </p:txBody>
      </p:sp>
      <p:sp>
        <p:nvSpPr>
          <p:cNvPr id="54" name="Text 48"/>
          <p:cNvSpPr/>
          <p:nvPr/>
        </p:nvSpPr>
        <p:spPr>
          <a:xfrm>
            <a:off x="6949440" y="3264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₹2,10,000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7909560" y="32644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4663440" y="3502152"/>
            <a:ext cx="4251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663440" y="3520440"/>
            <a:ext cx="73152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4800600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Flipkart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694944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7909560" y="3520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4663440" y="3758184"/>
            <a:ext cx="4251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4663440" y="3776472"/>
            <a:ext cx="73152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4800600" y="3776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/ Zepto</a:t>
            </a:r>
            <a:endParaRPr lang="en-US" sz="950" dirty="0"/>
          </a:p>
        </p:txBody>
      </p:sp>
      <p:sp>
        <p:nvSpPr>
          <p:cNvPr id="64" name="Text 58"/>
          <p:cNvSpPr/>
          <p:nvPr/>
        </p:nvSpPr>
        <p:spPr>
          <a:xfrm>
            <a:off x="694944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₹85,000</a:t>
            </a:r>
            <a:endParaRPr lang="en-US" sz="950" dirty="0"/>
          </a:p>
        </p:txBody>
      </p:sp>
      <p:sp>
        <p:nvSpPr>
          <p:cNvPr id="65" name="Text 59"/>
          <p:cNvSpPr/>
          <p:nvPr/>
        </p:nvSpPr>
        <p:spPr>
          <a:xfrm>
            <a:off x="7909560" y="3776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4663440" y="4014216"/>
            <a:ext cx="4251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4663440" y="4032504"/>
            <a:ext cx="73152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4800600" y="4032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6949440" y="4032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₹42,000</a:t>
            </a:r>
            <a:endParaRPr lang="en-US" sz="950" dirty="0"/>
          </a:p>
        </p:txBody>
      </p:sp>
      <p:sp>
        <p:nvSpPr>
          <p:cNvPr id="70" name="Text 64"/>
          <p:cNvSpPr/>
          <p:nvPr/>
        </p:nvSpPr>
        <p:spPr>
          <a:xfrm>
            <a:off x="7909560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50" dirty="0"/>
          </a:p>
        </p:txBody>
      </p:sp>
      <p:sp>
        <p:nvSpPr>
          <p:cNvPr id="71" name="Shape 65"/>
          <p:cNvSpPr/>
          <p:nvPr/>
        </p:nvSpPr>
        <p:spPr>
          <a:xfrm>
            <a:off x="4663440" y="4270248"/>
            <a:ext cx="42519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4663440" y="4288536"/>
            <a:ext cx="7315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4800600" y="4288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74" name="Text 68"/>
          <p:cNvSpPr/>
          <p:nvPr/>
        </p:nvSpPr>
        <p:spPr>
          <a:xfrm>
            <a:off x="6949440" y="4288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₹25,500</a:t>
            </a:r>
            <a:endParaRPr lang="en-US" sz="950" dirty="0"/>
          </a:p>
        </p:txBody>
      </p:sp>
      <p:sp>
        <p:nvSpPr>
          <p:cNvPr id="75" name="Text 69"/>
          <p:cNvSpPr/>
          <p:nvPr/>
        </p:nvSpPr>
        <p:spPr>
          <a:xfrm>
            <a:off x="7909560" y="42885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76" name="Shape 7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78" name="Text 72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&amp; 07 — Customer Analytics + Lifetime History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360° view of every customer — who they are, what they buy, how long they stay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(All Time)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609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1148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(last 30 days)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1993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3,840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41148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Month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1148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This Month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761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 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3145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411480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Frequency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46120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2.4x/month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04672" cy="2011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439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17320" y="4224528"/>
            <a:ext cx="138988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44439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77440" y="4224528"/>
            <a:ext cx="1024128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44439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37560" y="4224528"/>
            <a:ext cx="43891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44439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078992"/>
            <a:ext cx="42519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(LTV)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572768"/>
            <a:ext cx="42519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609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LTV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1609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₹2,840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18105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 months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011680"/>
            <a:ext cx="42519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048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Customer LTV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7804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₹12,400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2249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segment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2450592"/>
            <a:ext cx="42519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Order Value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7804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28032" y="26883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2889504"/>
            <a:ext cx="42519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2nd Order Value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78040" y="2926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28032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+42% increase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2519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3rd Order Value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78040" y="3364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28032" y="35661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 increase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63440" y="3840480"/>
            <a:ext cx="425196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Customer Profile View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28032" y="4187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purchase history  •  Total spent  •  Favourite products  •  Last order date  •  Churn risk score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Marketing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CPR, CAC, ROAS, CTR — every marketing metric in one place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(Cost per Acquisition)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₹18 vs last month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11430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 (Cost per Result)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avg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(Return on Ad Spend)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 earned per ₹1 spent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0313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CTR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0.4% vs last month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50749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59152"/>
            <a:ext cx="91440" cy="2304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50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by Channel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5196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035808"/>
            <a:ext cx="5074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054096"/>
            <a:ext cx="54864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54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30540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30540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30540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₹82.4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51960" y="30540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346704"/>
            <a:ext cx="5074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364992"/>
            <a:ext cx="54864" cy="21945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364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(Instagram)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3364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97480" y="3364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3364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51960" y="3364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657600"/>
            <a:ext cx="5074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675888"/>
            <a:ext cx="54864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675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Shopping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0" y="36758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97480" y="36758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36758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₹84.2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51960" y="36758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968496"/>
            <a:ext cx="5074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986784"/>
            <a:ext cx="54864" cy="21945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9867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28800" y="39867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97480" y="39867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74720" y="39867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51960" y="39867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279392"/>
            <a:ext cx="5074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4297680"/>
            <a:ext cx="54864" cy="2194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Campaign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828800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97480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74720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51960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623560" y="2359152"/>
            <a:ext cx="3246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623560" y="2359152"/>
            <a:ext cx="91440" cy="230428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0" y="2450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 Paid Traffic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623560" y="2788920"/>
            <a:ext cx="3246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50992" y="2807208"/>
            <a:ext cx="54864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9008" y="2816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(SEO)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635240" y="28163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23560" y="3136392"/>
            <a:ext cx="3246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50992" y="3154680"/>
            <a:ext cx="548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79008" y="31638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Paid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635240" y="3163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623560" y="3483864"/>
            <a:ext cx="3246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50992" y="3502152"/>
            <a:ext cx="54864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79008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Paid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635240" y="3511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623560" y="3831336"/>
            <a:ext cx="3246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50992" y="3849624"/>
            <a:ext cx="54864" cy="256032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79008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635240" y="38587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23560" y="4178808"/>
            <a:ext cx="3246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50992" y="4197096"/>
            <a:ext cx="54864" cy="25603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79008" y="4206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Referral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635240" y="4206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&amp; 08 — Product Performance + Best Sellers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cookies sell, which don't, and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074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 Best Selling Products (This Month)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727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06040" y="1572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54680" y="1572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0" y="15727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0" y="1572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507492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562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18562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 Chip Cookies 250g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1856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54680" y="1856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₹1.86L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0" y="18562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0" y="1856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▲+18%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139696"/>
            <a:ext cx="507492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671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21671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 Cookies Gift Box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2167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54680" y="2167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₹1.33L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0" y="2167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80560" y="2167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450592"/>
            <a:ext cx="507492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78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247802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Honey Cookies 100g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2478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54680" y="24780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₹0.76L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0" y="24780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80560" y="2478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▲+8%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761488"/>
            <a:ext cx="507492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889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27889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 Cookie Hamper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606040" y="2788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54680" y="2788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₹0.96L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0" y="2788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80560" y="2788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▲+24%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072384"/>
            <a:ext cx="507492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0998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" y="30998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Free Cookies 200g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3099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154680" y="30998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30998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80560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▲+35%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383280"/>
            <a:ext cx="507492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4107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" y="341071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Cinnamon Cookies 100g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06040" y="34107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154680" y="3410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₹0.28L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840480" y="34107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80560" y="3410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▼-4%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3694176"/>
            <a:ext cx="507492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721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" y="37216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Cookies 250g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606040" y="3721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154680" y="3721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₹0.38L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840480" y="3721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80560" y="3721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▲+6%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005072"/>
            <a:ext cx="507492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40325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04672" y="403250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Cookie Pack 150g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606040" y="40325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154680" y="40325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₹0.33L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840480" y="4032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480560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▲+15%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623560" y="1078992"/>
            <a:ext cx="32461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806440" y="1170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Health Overview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623560" y="1508760"/>
            <a:ext cx="3246120" cy="2194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1527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SKUs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680960" y="1527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623560" y="1755648"/>
            <a:ext cx="3246120" cy="2194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1773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Across All SKUs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680960" y="1773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23560" y="2002536"/>
            <a:ext cx="3246120" cy="2194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0" y="2020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SKUs (30d)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680960" y="2020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623560" y="2249424"/>
            <a:ext cx="3246120" cy="21945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0720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SKUs This Month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680960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623560" y="2496312"/>
            <a:ext cx="3246120" cy="2194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0" y="2514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SKUs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680960" y="2514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623560" y="2907792"/>
            <a:ext cx="3246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806440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Products ⚠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5623560" y="3346704"/>
            <a:ext cx="32461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60720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Cinnamon Cookies 100g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760720" y="35478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4% this month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623560" y="3767328"/>
            <a:ext cx="3246120" cy="365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60720" y="3785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Oat Biscuits 200g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760720" y="3968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15 days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623560" y="4187952"/>
            <a:ext cx="32461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60720" y="4206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Butter Pack 50g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760720" y="4389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22%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Orders &amp; Delivery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order pipeline — from placed to delivered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Funnel (This Month)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4124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 —  3,240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92808"/>
            <a:ext cx="77724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928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Packed  —  3,180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368296"/>
            <a:ext cx="69494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6829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 —  3,050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843784"/>
            <a:ext cx="6217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84378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 Delivery  —  2,940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3319272"/>
            <a:ext cx="54864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3192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Successfully  —  2,870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87952"/>
            <a:ext cx="2011680" cy="5669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0592" y="4187952"/>
            <a:ext cx="201168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50592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6864" y="4187952"/>
            <a:ext cx="201168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03136" y="4187952"/>
            <a:ext cx="2011680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days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03136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&amp; 10 — Geographic + Traffic &amp; Device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customers come from and how they reach PACC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411480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54864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536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₹82,400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411480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65376"/>
            <a:ext cx="54864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65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74520" y="18653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₹76,800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18653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411480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94560"/>
            <a:ext cx="54864" cy="21945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94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74520" y="2194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₹68,200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2194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505456"/>
            <a:ext cx="411480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523744"/>
            <a:ext cx="54864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74520" y="25237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₹54,600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0" y="25237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411480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52928"/>
            <a:ext cx="54864" cy="21945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529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74520" y="28529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₹42,100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0" y="28529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163824"/>
            <a:ext cx="411480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182112"/>
            <a:ext cx="54864" cy="2194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74520" y="31821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₹38,400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31821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493008"/>
            <a:ext cx="411480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511296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511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74520" y="35112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₹28,800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0" y="35112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822192"/>
            <a:ext cx="411480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840480"/>
            <a:ext cx="54864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840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874520" y="38404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₹90,700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0" y="38404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1078992"/>
            <a:ext cx="42519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4632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Sources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663440" y="1517904"/>
            <a:ext cx="425196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1536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80960" y="1536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1810512"/>
            <a:ext cx="425196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80960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2103120"/>
            <a:ext cx="425196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8096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2395728"/>
            <a:ext cx="425196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2414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80960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2907792"/>
            <a:ext cx="42519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84632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Breakdown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663440" y="3346704"/>
            <a:ext cx="425196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3364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(Android)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680960" y="33649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63440" y="3694176"/>
            <a:ext cx="425196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712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(iOS)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680960" y="37124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63440" y="4041648"/>
            <a:ext cx="425196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8032" y="4059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680960" y="4059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63440" y="4389120"/>
            <a:ext cx="425196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8032" y="44074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680960" y="4407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&amp; 12 — AI Chat + WhatsApp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performance and messaging ROI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91440" cy="36118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Analytics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910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(Month)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15910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12,480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11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Delivered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19110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12,240 (98.1%)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31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Read (Open Rate)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3240" y="22311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9,480 (76%)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32888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551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(Clicked Link)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63240" y="25511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2,840 (22.8%)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8712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WhatsApp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3240" y="28712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72968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91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WhatsApp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3240" y="31912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₹71,200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49300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112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ROI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63240" y="35112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13048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313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Rate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63240" y="38313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251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78992"/>
            <a:ext cx="91440" cy="3611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Analytics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1572768"/>
            <a:ext cx="4251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5910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Chat Sessions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89520" y="15910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3,840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892808"/>
            <a:ext cx="4251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911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Auto-Resolved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89520" y="19110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3,072 (80%)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212848"/>
            <a:ext cx="4251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231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Human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89520" y="22311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(20%)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2532888"/>
            <a:ext cx="4251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5511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 (AI)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89520" y="25511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seconds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852928"/>
            <a:ext cx="4251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28712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 (Human)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89520" y="28712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minutes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3172968"/>
            <a:ext cx="4251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1912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(CSAT)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89520" y="31912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5.0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3493008"/>
            <a:ext cx="4251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5112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Query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89520" y="35112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(42%)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63440" y="3813048"/>
            <a:ext cx="4251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8313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Top Query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89520" y="38313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policy (18%)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&amp; 14 — Offers, Coupons + Festival Theme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performance and seasonal theme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07492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&amp; Offer 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0" y="1536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46120" y="15361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60520" y="1536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5074920" cy="2834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922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DIWALI20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17922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20% off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792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7922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₹37,200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60520" y="17922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5074920" cy="28346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12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WELCOME10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88720" y="21122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 10% off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0" y="21122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46120" y="211226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₹18,200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60520" y="2112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414016"/>
            <a:ext cx="5074920" cy="2834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FREESHIP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88720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₹300+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0" y="24323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2432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₹9,300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60520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734056"/>
            <a:ext cx="5074920" cy="283464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523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BULK15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88720" y="27523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 15% off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7523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46120" y="275234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₹27,600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60520" y="27523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520440"/>
            <a:ext cx="50749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Insights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performing: WELCOME10 (highest volume)  •  Best revenue: BULK15 (highest AOV)  •  Highest conversion: DIWALI20 (seasonal urgency)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23560" y="1078992"/>
            <a:ext cx="324612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06440" y="1170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Festival Theme Manager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23560" y="1536192"/>
            <a:ext cx="324612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1554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Default Theme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0664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60720" y="17922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23560" y="2066544"/>
            <a:ext cx="32461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Diwali Theme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60720" y="2322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15 – Nov 15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23560" y="2596896"/>
            <a:ext cx="324612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2615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Holi Theme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2615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60720" y="2852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20–26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23560" y="3127248"/>
            <a:ext cx="32461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31455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Christmas Theme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6072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15–26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23560" y="3657600"/>
            <a:ext cx="324612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🎊 New Year Theme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06640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760720" y="39136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28–Jan 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Smart Alerts + AI Suggestions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tells you what to do next — not just what happened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91440" cy="3611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Active Alerts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14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91056"/>
            <a:ext cx="6400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1773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PACC-OAT-100 — stock 12 units left (min: 50)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39112"/>
            <a:ext cx="6400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39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WARNING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221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BATCH-MAR-002 — 180 units expire in 7 days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4114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87168"/>
            <a:ext cx="6400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87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WARNING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2670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this week: 11.2% — above 8% threshold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16936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35224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352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INFO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3118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theme scheduled to activate in 3 days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4114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8328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INFO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" y="3566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coupons expiring this week — review needed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813048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831336"/>
            <a:ext cx="64008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31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40142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week for Assorted Hamper — up 24% vs last week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411480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79392"/>
            <a:ext cx="64008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279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open rate this month: 76% — new record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078992"/>
            <a:ext cx="4251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078992"/>
            <a:ext cx="91440" cy="3611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 Smart Suggestions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1572768"/>
            <a:ext cx="425196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59105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1591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 Oat Cookie Flash Sale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1810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expires in 7 days — offer 30% off via WhatsApp broadcast. Estimated revenue recovery: ₹8,500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212848"/>
            <a:ext cx="4251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23113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2311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 Bangalore with Dark Choc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28032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Cookies 2x more popular in Bangalore. Run targeted Instagram ad for this city only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852928"/>
            <a:ext cx="425196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287121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871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Upsell Gift Box to Hamper Buyers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28032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buying Assorted Hamper have 38% chance of buying Gift Box in same session if shown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3493008"/>
            <a:ext cx="4251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51129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Re-engage 124 churned customers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28032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personalised WhatsApp with 15% comeback offer. Avg recovery rate: 22% = 27 orders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4133088"/>
            <a:ext cx="425196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15137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151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Restock Choco Chip 250g NOW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28032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sales pace (1,240/month) you have 4 days of stock left. Trigger production order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API Integration Costs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— monthly pricing — transparent breakdown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2743200" cy="36576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9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57400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28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17282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(Free)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385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57400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per txn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1671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85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57400" y="2185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0.4%–1%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14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57400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6243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42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57400" y="2642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18688" y="1078992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1078992"/>
            <a:ext cx="2743200" cy="3657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1430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(Meta API)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18688" y="14813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1499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1000 conv/month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01768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18688" y="17099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1728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Alerts (Utility)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01768" y="17282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₹0.125/conv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18688" y="19385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Broadcasts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01768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₹0.88/conv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18688" y="21671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2185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Auth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01768" y="2185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₹0.115/conv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18688" y="23957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414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(500 orders)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01768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~₹250–₹500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18688" y="26243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2642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(5K orders)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01768" y="2642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~₹1,500–₹2,500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1078992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1078992"/>
            <a:ext cx="27432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72784" y="11430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63056" y="14813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1499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946136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63056" y="17099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1728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Plan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946136" y="17282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₹0/month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63056" y="19385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1956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946136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₹3,999/month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63056" y="21671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54496" y="2185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 (Lite)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946136" y="2185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₹25–₹100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63056" y="2395728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54496" y="2414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 (Growth)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946136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₹20–₹80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63056" y="2624328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54496" y="2642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bears cost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946136" y="2642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per order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3017520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" y="301752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30815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(OpenAI)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34198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3438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057400" y="3438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₹280/month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36484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36667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057400" y="3666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₹7,500/month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38770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057400" y="3895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₹140/month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74320" y="41056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" y="4123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Turbo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057400" y="41239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₹540/month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74320" y="43342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4352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057400" y="43525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74320" y="45628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4581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Credit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057400" y="4581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on signup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218688" y="3017520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18688" y="301752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28416" y="30815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Email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18688" y="34198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10128" y="3438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(Push)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001768" y="3438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18688" y="36484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10128" y="36667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SES Email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001768" y="3666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62K/month FREE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218688" y="38770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10128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MSG91 SMS/OTP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001768" y="3895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₹0.18/SMS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218688" y="41056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10128" y="4123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OTPs/month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001768" y="41239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~₹90/month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218688" y="43342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310128" y="4352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(backup)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001768" y="43525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100/day free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218688" y="45628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310128" y="4581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 scale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001768" y="4581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₹500/month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163056" y="3017520"/>
            <a:ext cx="274320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63056" y="3017520"/>
            <a:ext cx="274320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72784" y="30815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Media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6163056" y="34198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54496" y="3438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4GB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7946136" y="3438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₹1,600/month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163056" y="36484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54496" y="36667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946136" y="3666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25GB FREE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6163056" y="38770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54496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7946136" y="3895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credit FREE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163056" y="41056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254496" y="4123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946136" y="41239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 FREE/year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163056" y="4334256"/>
            <a:ext cx="2743200" cy="2103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254496" y="4352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(.com)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7946136" y="43525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₹800–₹1,500/year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6163056" y="4562856"/>
            <a:ext cx="2743200" cy="210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254496" y="4581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946136" y="4581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(Let's Encrypt)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costs — starting phase vs growth phase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91440" cy="3611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Phase (Month 1–3)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(DigitalOcean 4GB)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54680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83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(Meta)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₹150–₹500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(GPT-4o Mini)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(MSG91)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₹90–₹300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(AWS SES)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54680" y="2761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054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(Firebase)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328416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(Images)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54680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21024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5468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13632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54680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per transaction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22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54680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3977640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2628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Monthly: ₹2,120 – ₹2,680 + transaction 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107899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1078992"/>
            <a:ext cx="91440" cy="361188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Phase (Month 4–12)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00600" y="1572768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(DigitalOcean 8GB)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89520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1865376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1883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(Meta)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89520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₹500–₹2,000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2157984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(GPT-4o)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8952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₹2,000–₹5,000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0600" y="2450592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(MSG91)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58952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₹300–₹500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2743200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(AWS SES)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89520" y="2761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FREE–₹500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00600" y="3035808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65192" y="3054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(Firebase)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589520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00600" y="3328416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65192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(Images)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589520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FREE–₹500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00600" y="3621024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58952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00600" y="3913632"/>
            <a:ext cx="39776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65192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589520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per transaction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00600" y="4206240"/>
            <a:ext cx="3977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65192" y="422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589520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00600" y="4526280"/>
            <a:ext cx="3977640" cy="10972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00600" y="452628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Monthly: ₹6,000 – ₹11,700 + transaction 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Theme System — Visual Preview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theme changes — same structure, different festive feel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993392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45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1993392" cy="5029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Default Theme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530352" cy="2926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664208"/>
            <a:ext cx="530352" cy="292608"/>
          </a:xfrm>
          <a:prstGeom prst="rect">
            <a:avLst/>
          </a:prstGeom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1664208"/>
            <a:ext cx="530352" cy="292608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brown + cream + gold. Year-round PACC brand identity.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Warm brown primary color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Cream background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 accents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 cookie imagery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 product badges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50592" y="1078992"/>
            <a:ext cx="1993392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0592" y="1078992"/>
            <a:ext cx="1993392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1115568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Diwali Theme 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42032" y="1664208"/>
            <a:ext cx="530352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6392" y="1664208"/>
            <a:ext cx="530352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1664208"/>
            <a:ext cx="530352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011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gold + amber + deep orange. Festive Indian celebration feel.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 gold primary color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Warm amber banner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42032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Diya subtle accents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Gift box highlights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42032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'Diwali Special' product badges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1078992"/>
            <a:ext cx="1993392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1078992"/>
            <a:ext cx="1993392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115568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Holi Theme 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18304" y="1664208"/>
            <a:ext cx="530352" cy="2926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12664" y="1664208"/>
            <a:ext cx="530352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07024" y="1664208"/>
            <a:ext cx="530352" cy="292608"/>
          </a:xfrm>
          <a:prstGeom prst="rect">
            <a:avLst/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2011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Vibrant purple + pink + green. Colorful celebration energy.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18304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Vibrant purple primary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18304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Color splash banner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Playful product badges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18304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Multi-color accent dots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18304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'Holi Special' offer banner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03136" y="1078992"/>
            <a:ext cx="1993392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03136" y="1078992"/>
            <a:ext cx="1993392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94576" y="1115568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Christmas Theme 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94576" y="1664208"/>
            <a:ext cx="5303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88936" y="1664208"/>
            <a:ext cx="5303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83296" y="1664208"/>
            <a:ext cx="530352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2011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red + forest green + gold. Classic festive warmth.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94576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 red primary color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94576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Green secondary accent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94576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Subtle snowflake bg pattern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94576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Gift wrap imagery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94576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'Christmas Gift Box' badges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645152"/>
            <a:ext cx="8595360" cy="109728"/>
          </a:xfrm>
          <a:prstGeom prst="rect">
            <a:avLst/>
          </a:prstGeom>
          <a:solidFill>
            <a:srgbClr val="C4622D">
              <a:alpha val="40000"/>
            </a:srgbClr>
          </a:solidFill>
          <a:ln w="12700">
            <a:solidFill>
              <a:srgbClr val="C4622D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"/>
            <a:ext cx="5029200" cy="5029200"/>
          </a:xfrm>
          <a:prstGeom prst="ellipse">
            <a:avLst/>
          </a:prstGeom>
          <a:solidFill>
            <a:srgbClr val="C4622D">
              <a:alpha val="10000"/>
            </a:srgbClr>
          </a:solidFill>
          <a:ln w="12700">
            <a:solidFill>
              <a:srgbClr val="C4622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097280"/>
            <a:ext cx="3200400" cy="3200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743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PACC Dashboard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88720" y="9326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sections  •  100+ metrics  •  Festival themes  •  Smart AI alerts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88720" y="1508760"/>
            <a:ext cx="1737360" cy="77724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Sections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08960" y="1508760"/>
            <a:ext cx="173736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10896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Tracked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0" y="1508760"/>
            <a:ext cx="17373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02920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Themes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49440" y="1508760"/>
            <a:ext cx="1737360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₹2,120+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94944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API Cost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88720" y="251460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87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00200" y="2532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dashboard sections — any additions or removals?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88720" y="293522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600200" y="2953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Odoo Enterprise API credentials for connection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88720" y="33558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600200" y="33741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PACC branding — logo, fonts, color hex codes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188720" y="37764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8872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6002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festival themes needed and their dates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188720" y="419709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8872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600200" y="42153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agreement → kickoff in Week 1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188720" y="4645152"/>
            <a:ext cx="5029200" cy="36576"/>
          </a:xfrm>
          <a:prstGeom prst="rect">
            <a:avLst/>
          </a:prstGeom>
          <a:solidFill>
            <a:srgbClr val="C4622D">
              <a:alpha val="50000"/>
            </a:srgbClr>
          </a:solidFill>
          <a:ln w="12700">
            <a:solidFill>
              <a:srgbClr val="C4622D">
                <a:alpha val="5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4837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 Cookie Brand  |  Analytics Dashboard Proposal  |  Confidential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503920" y="4837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PACC Cookie Brand — Complete Dashboard Proposal</dc:title>
  <dc:subject>PptxGenJS Presentation</dc:subject>
  <dc:creator>PptxGenJS</dc:creator>
  <cp:lastModifiedBy>PptxGenJS</cp:lastModifiedBy>
  <cp:revision>1</cp:revision>
  <dcterms:created xsi:type="dcterms:W3CDTF">2026-04-10T19:06:07Z</dcterms:created>
  <dcterms:modified xsi:type="dcterms:W3CDTF">2026-04-10T19:06:07Z</dcterms:modified>
</cp:coreProperties>
</file>